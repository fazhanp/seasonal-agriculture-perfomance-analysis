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096000" y="3442479"/>
            <a:ext cx="3400089" cy="861497"/>
          </a:xfrm>
        </p:spPr>
        <p:txBody>
          <a:bodyPr vert="horz" lIns="91440" tIns="45720" rIns="91440" bIns="45720" rtlCol="0" anchor="t">
            <a:noAutofit/>
          </a:bodyPr>
          <a:lstStyle/>
          <a:p>
            <a:pPr algn="ctr"/>
            <a:r>
              <a:rPr lang="en-US" sz="1600" b="0" dirty="0">
                <a:solidFill>
                  <a:schemeClr val="tx1"/>
                </a:solidFill>
              </a:rPr>
              <a:t>Student Name –  </a:t>
            </a:r>
          </a:p>
          <a:p>
            <a:pPr algn="ctr"/>
            <a:r>
              <a:rPr lang="en-US" dirty="0">
                <a:solidFill>
                  <a:schemeClr val="tx1"/>
                </a:solidFill>
              </a:rPr>
              <a:t> FAZHAN P </a:t>
            </a:r>
            <a:endParaRPr lang="en-IN" dirty="0">
              <a:solidFill>
                <a:schemeClr val="tx1"/>
              </a:solidFill>
            </a:endParaRPr>
          </a:p>
          <a:p>
            <a:pPr algn="ctr"/>
            <a:r>
              <a:rPr lang="en-US" sz="1600" b="0" dirty="0">
                <a:solidFill>
                  <a:schemeClr val="tx1"/>
                </a:solidFill>
              </a:rPr>
              <a:t>College Name-  </a:t>
            </a:r>
          </a:p>
          <a:p>
            <a:pPr algn="ctr"/>
            <a:r>
              <a:rPr lang="en-US" dirty="0">
                <a:solidFill>
                  <a:schemeClr val="tx1"/>
                </a:solidFill>
              </a:rPr>
              <a:t>SAINTGITS COLLEGE OF ENGINEERING </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12009" y="2699031"/>
            <a:ext cx="5579192" cy="743448"/>
          </a:xfrm>
        </p:spPr>
        <p:txBody>
          <a:bodyPr>
            <a:normAutofit fontScale="90000"/>
          </a:bodyPr>
          <a:lstStyle/>
          <a:p>
            <a:r>
              <a:rPr lang="en-GB" sz="2700" dirty="0"/>
              <a:t>Project Title –</a:t>
            </a:r>
            <a:br>
              <a:rPr lang="en-GB" sz="2700" dirty="0"/>
            </a:br>
            <a:r>
              <a:rPr lang="en-GB" sz="3200" dirty="0"/>
              <a:t> </a:t>
            </a:r>
            <a:r>
              <a:rPr lang="en-GB" sz="4000" b="1" dirty="0"/>
              <a:t>SEASONAL  AGRICULTURE PERFOMANCE ANALYSIS</a:t>
            </a:r>
            <a:endParaRPr lang="en-IN" sz="40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096000" y="5548590"/>
            <a:ext cx="3176362" cy="923330"/>
          </a:xfrm>
          <a:prstGeom prst="rect">
            <a:avLst/>
          </a:prstGeom>
          <a:noFill/>
        </p:spPr>
        <p:txBody>
          <a:bodyPr wrap="square" rtlCol="0">
            <a:spAutoFit/>
          </a:bodyPr>
          <a:lstStyle/>
          <a:p>
            <a:r>
              <a:rPr lang="en-US" b="1" dirty="0"/>
              <a:t>AICTE STU ID : STU6a6b799a9889e1785428378</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4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2102230"/>
            <a:ext cx="6431280" cy="3607987"/>
          </a:xfrm>
        </p:spPr>
        <p:txBody>
          <a:bodyPr vert="horz" lIns="91440" tIns="45720" rIns="91440" bIns="45720" rtlCol="0" anchor="t">
            <a:normAutofit fontScale="70000" lnSpcReduction="20000"/>
          </a:bodyPr>
          <a:lstStyle/>
          <a:p>
            <a:pPr>
              <a:lnSpc>
                <a:spcPct val="100000"/>
              </a:lnSpc>
            </a:pPr>
            <a:r>
              <a:rPr lang="en-IN" sz="2800" dirty="0"/>
              <a:t> </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51946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CCF5F667-519C-142C-629C-48E5BB2B5C16}"/>
              </a:ext>
            </a:extLst>
          </p:cNvPr>
          <p:cNvSpPr txBox="1"/>
          <p:nvPr/>
        </p:nvSpPr>
        <p:spPr>
          <a:xfrm>
            <a:off x="161925" y="1350460"/>
            <a:ext cx="10963275" cy="5078313"/>
          </a:xfrm>
          <a:prstGeom prst="rect">
            <a:avLst/>
          </a:prstGeom>
          <a:noFill/>
        </p:spPr>
        <p:txBody>
          <a:bodyPr wrap="square" rtlCol="0">
            <a:spAutoFit/>
          </a:bodyPr>
          <a:lstStyle/>
          <a:p>
            <a:r>
              <a:rPr lang="en-US" dirty="0"/>
              <a:t>This project performs an end-to-end data analytics study of agricultural activities across different seasons.</a:t>
            </a:r>
          </a:p>
          <a:p>
            <a:endParaRPr lang="en-US" dirty="0"/>
          </a:p>
          <a:p>
            <a:r>
              <a:rPr lang="en-US" dirty="0"/>
              <a:t>The dataset contains information related to:</a:t>
            </a:r>
          </a:p>
          <a:p>
            <a:pPr marL="285750" lvl="0" indent="-285750">
              <a:buFont typeface="Arial" panose="020B0604020202020204" pitchFamily="34" charset="0"/>
              <a:buChar char="•"/>
            </a:pPr>
            <a:r>
              <a:rPr lang="en-US" b="1" dirty="0"/>
              <a:t>Geographical factors</a:t>
            </a:r>
            <a:r>
              <a:rPr lang="en-US" dirty="0"/>
              <a:t> – State and District </a:t>
            </a:r>
          </a:p>
          <a:p>
            <a:pPr marL="285750" lvl="0" indent="-285750">
              <a:buFont typeface="Arial" panose="020B0604020202020204" pitchFamily="34" charset="0"/>
              <a:buChar char="•"/>
            </a:pPr>
            <a:r>
              <a:rPr lang="en-US" b="1" dirty="0"/>
              <a:t>Agricultural factors</a:t>
            </a:r>
            <a:r>
              <a:rPr lang="en-US" dirty="0"/>
              <a:t> – Crop and Farm Area </a:t>
            </a:r>
          </a:p>
          <a:p>
            <a:pPr marL="285750" lvl="0" indent="-285750">
              <a:buFont typeface="Arial" panose="020B0604020202020204" pitchFamily="34" charset="0"/>
              <a:buChar char="•"/>
            </a:pPr>
            <a:r>
              <a:rPr lang="en-US" b="1" dirty="0"/>
              <a:t>Environmental conditions</a:t>
            </a:r>
            <a:r>
              <a:rPr lang="en-US" dirty="0"/>
              <a:t> – Rainfall, Temperature, Humidity and Sunlight </a:t>
            </a:r>
          </a:p>
          <a:p>
            <a:pPr marL="285750" lvl="0" indent="-285750">
              <a:buFont typeface="Arial" panose="020B0604020202020204" pitchFamily="34" charset="0"/>
              <a:buChar char="•"/>
            </a:pPr>
            <a:r>
              <a:rPr lang="en-US" b="1" dirty="0"/>
              <a:t>Soil conditions</a:t>
            </a:r>
            <a:r>
              <a:rPr lang="en-US" dirty="0"/>
              <a:t> – Soil pH and Soil Moisture </a:t>
            </a:r>
          </a:p>
          <a:p>
            <a:pPr marL="285750" lvl="0" indent="-285750">
              <a:buFont typeface="Arial" panose="020B0604020202020204" pitchFamily="34" charset="0"/>
              <a:buChar char="•"/>
            </a:pPr>
            <a:r>
              <a:rPr lang="en-US" b="1" dirty="0"/>
              <a:t>Resource usage</a:t>
            </a:r>
            <a:r>
              <a:rPr lang="en-US" dirty="0"/>
              <a:t> – Fertilizer, Pesticide, Irrigation and Water </a:t>
            </a:r>
          </a:p>
          <a:p>
            <a:pPr marL="285750" lvl="0" indent="-285750">
              <a:buFont typeface="Arial" panose="020B0604020202020204" pitchFamily="34" charset="0"/>
              <a:buChar char="•"/>
            </a:pPr>
            <a:r>
              <a:rPr lang="en-US" b="1" dirty="0"/>
              <a:t>Production</a:t>
            </a:r>
            <a:r>
              <a:rPr lang="en-US" dirty="0"/>
              <a:t> – Yield and Total Production </a:t>
            </a:r>
          </a:p>
          <a:p>
            <a:pPr marL="285750" lvl="0" indent="-285750">
              <a:buFont typeface="Arial" panose="020B0604020202020204" pitchFamily="34" charset="0"/>
              <a:buChar char="•"/>
            </a:pPr>
            <a:r>
              <a:rPr lang="en-US" b="1" dirty="0"/>
              <a:t>Economic performance</a:t>
            </a:r>
            <a:r>
              <a:rPr lang="en-US" dirty="0"/>
              <a:t> – Cost, Revenue, Market Price and Profit </a:t>
            </a:r>
          </a:p>
          <a:p>
            <a:pPr marL="285750" lvl="0" indent="-285750">
              <a:buFont typeface="Arial" panose="020B0604020202020204" pitchFamily="34" charset="0"/>
              <a:buChar char="•"/>
            </a:pPr>
            <a:r>
              <a:rPr lang="en-US" b="1" dirty="0"/>
              <a:t>Risk factors</a:t>
            </a:r>
            <a:r>
              <a:rPr lang="en-US" dirty="0"/>
              <a:t> – Disease and Pest Risk </a:t>
            </a:r>
          </a:p>
          <a:p>
            <a:r>
              <a:rPr lang="en-US" dirty="0"/>
              <a:t>The analysis compares </a:t>
            </a:r>
            <a:r>
              <a:rPr lang="en-US" b="1" dirty="0"/>
              <a:t>Kharif, Rabi and Zaid seasons</a:t>
            </a:r>
            <a:r>
              <a:rPr lang="en-US" dirty="0"/>
              <a:t> to identify patterns affecting agricultural productivity, resource efficiency and profitability.</a:t>
            </a:r>
          </a:p>
          <a:p>
            <a:endParaRPr lang="en-US" dirty="0"/>
          </a:p>
          <a:p>
            <a:r>
              <a:rPr lang="en-US" b="1" dirty="0"/>
              <a:t>Dataset Summary</a:t>
            </a:r>
          </a:p>
          <a:p>
            <a:r>
              <a:rPr lang="en-US" b="1" dirty="0"/>
              <a:t>4,000 records | 28 variables | 3 seasons | 8 crops | 8 states</a:t>
            </a:r>
            <a:endParaRPr lang="en-US" dirty="0"/>
          </a:p>
          <a:p>
            <a:endParaRPr lang="en-US"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9339" y="410086"/>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Box 2">
            <a:extLst>
              <a:ext uri="{FF2B5EF4-FFF2-40B4-BE49-F238E27FC236}">
                <a16:creationId xmlns:a16="http://schemas.microsoft.com/office/drawing/2014/main" id="{FA323518-9D8C-AC53-F0F0-BE6D562F2E59}"/>
              </a:ext>
            </a:extLst>
          </p:cNvPr>
          <p:cNvSpPr txBox="1"/>
          <p:nvPr/>
        </p:nvSpPr>
        <p:spPr>
          <a:xfrm>
            <a:off x="424064" y="998123"/>
            <a:ext cx="7712368" cy="6032421"/>
          </a:xfrm>
          <a:prstGeom prst="rect">
            <a:avLst/>
          </a:prstGeom>
          <a:noFill/>
        </p:spPr>
        <p:txBody>
          <a:bodyPr wrap="none" rtlCol="0">
            <a:spAutoFit/>
          </a:bodyPr>
          <a:lstStyle/>
          <a:p>
            <a:r>
              <a:rPr lang="en-US" b="1" dirty="0"/>
              <a:t>1. Farmers</a:t>
            </a:r>
            <a:endParaRPr lang="en-US" dirty="0"/>
          </a:p>
          <a:p>
            <a:pPr lvl="0"/>
            <a:r>
              <a:rPr lang="en-US" sz="1600" dirty="0"/>
              <a:t>Select suitable crops and seasons </a:t>
            </a:r>
          </a:p>
          <a:p>
            <a:pPr lvl="0"/>
            <a:r>
              <a:rPr lang="en-US" sz="1600" dirty="0"/>
              <a:t>Improve resource utilization </a:t>
            </a:r>
          </a:p>
          <a:p>
            <a:pPr lvl="0"/>
            <a:r>
              <a:rPr lang="en-US" sz="1600" dirty="0"/>
              <a:t>Identify profitable farming practices </a:t>
            </a:r>
          </a:p>
          <a:p>
            <a:pPr lvl="0"/>
            <a:endParaRPr lang="en-US" dirty="0"/>
          </a:p>
          <a:p>
            <a:r>
              <a:rPr lang="en-US" b="1" dirty="0"/>
              <a:t>2. Agricultural Planners</a:t>
            </a:r>
            <a:endParaRPr lang="en-US" dirty="0"/>
          </a:p>
          <a:p>
            <a:pPr lvl="0"/>
            <a:r>
              <a:rPr lang="en-US" sz="1600" dirty="0"/>
              <a:t>Support seasonal agricultural planning </a:t>
            </a:r>
          </a:p>
          <a:p>
            <a:pPr lvl="0"/>
            <a:r>
              <a:rPr lang="en-US" sz="1600" dirty="0"/>
              <a:t>Compare regional performance </a:t>
            </a:r>
          </a:p>
          <a:p>
            <a:pPr lvl="0"/>
            <a:r>
              <a:rPr lang="en-US" sz="1600" dirty="0"/>
              <a:t>Identify areas requiring intervention </a:t>
            </a:r>
          </a:p>
          <a:p>
            <a:pPr lvl="0"/>
            <a:endParaRPr lang="en-US" sz="1600" dirty="0"/>
          </a:p>
          <a:p>
            <a:r>
              <a:rPr lang="en-US" b="1" dirty="0"/>
              <a:t>3. Government &amp; Agricultural Departments</a:t>
            </a:r>
            <a:endParaRPr lang="en-US" dirty="0"/>
          </a:p>
          <a:p>
            <a:pPr lvl="0"/>
            <a:r>
              <a:rPr lang="en-US" sz="1600" dirty="0"/>
              <a:t>Develop evidence-based agricultural policies </a:t>
            </a:r>
          </a:p>
          <a:p>
            <a:pPr lvl="0"/>
            <a:r>
              <a:rPr lang="en-US" sz="1600" dirty="0"/>
              <a:t>Monitor seasonal productivity </a:t>
            </a:r>
          </a:p>
          <a:p>
            <a:pPr lvl="0"/>
            <a:r>
              <a:rPr lang="en-US" sz="1600" dirty="0"/>
              <a:t>Plan resource allocation </a:t>
            </a:r>
          </a:p>
          <a:p>
            <a:pPr lvl="0"/>
            <a:endParaRPr lang="en-US" dirty="0"/>
          </a:p>
          <a:p>
            <a:r>
              <a:rPr lang="en-US" b="1" dirty="0"/>
              <a:t>4. Agribusiness &amp; Market Stakeholders</a:t>
            </a:r>
            <a:endParaRPr lang="en-US" dirty="0"/>
          </a:p>
          <a:p>
            <a:pPr lvl="0"/>
            <a:r>
              <a:rPr lang="en-US" sz="1600" dirty="0"/>
              <a:t>Understand production and market trends </a:t>
            </a:r>
          </a:p>
          <a:p>
            <a:pPr lvl="0"/>
            <a:r>
              <a:rPr lang="en-US" sz="1600" dirty="0"/>
              <a:t>Assess seasonal profitability </a:t>
            </a:r>
          </a:p>
          <a:p>
            <a:pPr lvl="0"/>
            <a:endParaRPr lang="en-US" dirty="0"/>
          </a:p>
          <a:p>
            <a:r>
              <a:rPr lang="en-US" b="1" dirty="0"/>
              <a:t>5. Data Analysts &amp; Researchers</a:t>
            </a:r>
            <a:endParaRPr lang="en-US" dirty="0"/>
          </a:p>
          <a:p>
            <a:pPr lvl="0"/>
            <a:r>
              <a:rPr lang="en-US" sz="1600" dirty="0"/>
              <a:t>Study relationships between environmental factors and agricultural performance </a:t>
            </a:r>
          </a:p>
          <a:p>
            <a:pPr lvl="0"/>
            <a:r>
              <a:rPr lang="en-US" sz="1600" dirty="0"/>
              <a:t>Develop predictive agricultural models</a:t>
            </a:r>
          </a:p>
          <a:p>
            <a:endParaRPr lang="en-US" dirty="0"/>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585754" y="243955"/>
            <a:ext cx="5306291" cy="847817"/>
          </a:xfrm>
        </p:spPr>
        <p:txBody>
          <a:bodyPr>
            <a:normAutofit/>
          </a:bodyPr>
          <a:lstStyle/>
          <a:p>
            <a:r>
              <a:rPr lang="en-US" dirty="0"/>
              <a:t>Technology Used</a:t>
            </a:r>
          </a:p>
        </p:txBody>
      </p:sp>
      <p:sp>
        <p:nvSpPr>
          <p:cNvPr id="3" name="TextBox 2">
            <a:extLst>
              <a:ext uri="{FF2B5EF4-FFF2-40B4-BE49-F238E27FC236}">
                <a16:creationId xmlns:a16="http://schemas.microsoft.com/office/drawing/2014/main" id="{B9707F76-84BF-DB8F-8BCA-53568D5144DE}"/>
              </a:ext>
            </a:extLst>
          </p:cNvPr>
          <p:cNvSpPr txBox="1"/>
          <p:nvPr/>
        </p:nvSpPr>
        <p:spPr>
          <a:xfrm>
            <a:off x="2040566" y="1327843"/>
            <a:ext cx="3343197" cy="5632311"/>
          </a:xfrm>
          <a:prstGeom prst="rect">
            <a:avLst/>
          </a:prstGeom>
          <a:noFill/>
        </p:spPr>
        <p:txBody>
          <a:bodyPr wrap="square" rtlCol="0">
            <a:spAutoFit/>
          </a:bodyPr>
          <a:lstStyle/>
          <a:p>
            <a:r>
              <a:rPr lang="en-US" b="1" dirty="0"/>
              <a:t>Programming Language</a:t>
            </a:r>
            <a:endParaRPr lang="en-US" dirty="0"/>
          </a:p>
          <a:p>
            <a:pPr marL="285750" lvl="0" indent="-285750">
              <a:buFont typeface="Arial" panose="020B0604020202020204" pitchFamily="34" charset="0"/>
              <a:buChar char="•"/>
            </a:pPr>
            <a:r>
              <a:rPr lang="en-US" dirty="0"/>
              <a:t>Python </a:t>
            </a:r>
          </a:p>
          <a:p>
            <a:pPr marL="285750" lvl="0" indent="-285750">
              <a:buFont typeface="Arial" panose="020B0604020202020204" pitchFamily="34" charset="0"/>
              <a:buChar char="•"/>
            </a:pPr>
            <a:endParaRPr lang="en-US" dirty="0"/>
          </a:p>
          <a:p>
            <a:r>
              <a:rPr lang="en-US" b="1" dirty="0"/>
              <a:t>Development Environment</a:t>
            </a:r>
            <a:endParaRPr lang="en-US" dirty="0"/>
          </a:p>
          <a:p>
            <a:pPr marL="285750" lvl="0" indent="-285750">
              <a:buFont typeface="Arial" panose="020B0604020202020204" pitchFamily="34" charset="0"/>
              <a:buChar char="•"/>
            </a:pPr>
            <a:r>
              <a:rPr lang="en-US" dirty="0"/>
              <a:t>Google </a:t>
            </a:r>
            <a:r>
              <a:rPr lang="en-US" dirty="0" err="1"/>
              <a:t>Colab</a:t>
            </a:r>
            <a:r>
              <a:rPr lang="en-US" dirty="0"/>
              <a:t> </a:t>
            </a:r>
          </a:p>
          <a:p>
            <a:pPr marL="285750" lvl="0" indent="-285750">
              <a:buFont typeface="Arial" panose="020B0604020202020204" pitchFamily="34" charset="0"/>
              <a:buChar char="•"/>
            </a:pPr>
            <a:r>
              <a:rPr lang="en-US" dirty="0"/>
              <a:t>Jupyter Notebook </a:t>
            </a:r>
          </a:p>
          <a:p>
            <a:pPr marL="285750" lvl="0" indent="-285750">
              <a:buFont typeface="Arial" panose="020B0604020202020204" pitchFamily="34" charset="0"/>
              <a:buChar char="•"/>
            </a:pPr>
            <a:endParaRPr lang="en-US" dirty="0"/>
          </a:p>
          <a:p>
            <a:r>
              <a:rPr lang="en-US" b="1" dirty="0"/>
              <a:t>Libraries</a:t>
            </a:r>
            <a:endParaRPr lang="en-US" dirty="0"/>
          </a:p>
          <a:p>
            <a:pPr marL="285750" lvl="0" indent="-285750">
              <a:buFont typeface="Arial" panose="020B0604020202020204" pitchFamily="34" charset="0"/>
              <a:buChar char="•"/>
            </a:pPr>
            <a:r>
              <a:rPr lang="en-US" dirty="0"/>
              <a:t>Pandas – Data manipulation and analysis </a:t>
            </a:r>
          </a:p>
          <a:p>
            <a:pPr marL="285750" lvl="0" indent="-285750">
              <a:buFont typeface="Arial" panose="020B0604020202020204" pitchFamily="34" charset="0"/>
              <a:buChar char="•"/>
            </a:pPr>
            <a:r>
              <a:rPr lang="en-US" dirty="0"/>
              <a:t>NumPy – Numerical computation </a:t>
            </a:r>
          </a:p>
          <a:p>
            <a:pPr marL="285750" lvl="0" indent="-285750">
              <a:buFont typeface="Arial" panose="020B0604020202020204" pitchFamily="34" charset="0"/>
              <a:buChar char="•"/>
            </a:pPr>
            <a:r>
              <a:rPr lang="en-US" dirty="0"/>
              <a:t>Matplotlib – Data visualization </a:t>
            </a:r>
          </a:p>
          <a:p>
            <a:pPr marL="285750" lvl="0" indent="-285750">
              <a:buFont typeface="Arial" panose="020B0604020202020204" pitchFamily="34" charset="0"/>
              <a:buChar char="•"/>
            </a:pPr>
            <a:r>
              <a:rPr lang="en-US" dirty="0"/>
              <a:t>Seaborn – Statistical visualization </a:t>
            </a:r>
          </a:p>
          <a:p>
            <a:pPr marL="285750" lvl="0" indent="-285750">
              <a:buFont typeface="Arial" panose="020B0604020202020204" pitchFamily="34" charset="0"/>
              <a:buChar char="•"/>
            </a:pPr>
            <a:r>
              <a:rPr lang="en-US" dirty="0"/>
              <a:t>SciPy – Statistical testing </a:t>
            </a:r>
          </a:p>
          <a:p>
            <a:pPr marL="285750" lvl="0" indent="-285750">
              <a:buFont typeface="Arial" panose="020B0604020202020204" pitchFamily="34" charset="0"/>
              <a:buChar char="•"/>
            </a:pPr>
            <a:r>
              <a:rPr lang="en-US" dirty="0"/>
              <a:t>Scikit-learn – Machine learning</a:t>
            </a:r>
          </a:p>
          <a:p>
            <a:endParaRPr lang="en-US" dirty="0"/>
          </a:p>
        </p:txBody>
      </p:sp>
      <p:sp>
        <p:nvSpPr>
          <p:cNvPr id="4" name="TextBox 3">
            <a:extLst>
              <a:ext uri="{FF2B5EF4-FFF2-40B4-BE49-F238E27FC236}">
                <a16:creationId xmlns:a16="http://schemas.microsoft.com/office/drawing/2014/main" id="{D9E3E4F8-E17F-E785-66F0-1BF0986B52FE}"/>
              </a:ext>
            </a:extLst>
          </p:cNvPr>
          <p:cNvSpPr txBox="1"/>
          <p:nvPr/>
        </p:nvSpPr>
        <p:spPr>
          <a:xfrm>
            <a:off x="6096000" y="1327843"/>
            <a:ext cx="3392019" cy="3693319"/>
          </a:xfrm>
          <a:prstGeom prst="rect">
            <a:avLst/>
          </a:prstGeom>
          <a:noFill/>
        </p:spPr>
        <p:txBody>
          <a:bodyPr wrap="none" rtlCol="0">
            <a:spAutoFit/>
          </a:bodyPr>
          <a:lstStyle/>
          <a:p>
            <a:r>
              <a:rPr lang="en-US" b="1" dirty="0"/>
              <a:t>Analysis Techniques</a:t>
            </a:r>
            <a:endParaRPr lang="en-US" dirty="0"/>
          </a:p>
          <a:p>
            <a:pPr marL="285750" lvl="0" indent="-285750">
              <a:buFont typeface="Arial" panose="020B0604020202020204" pitchFamily="34" charset="0"/>
              <a:buChar char="•"/>
            </a:pPr>
            <a:r>
              <a:rPr lang="en-US" dirty="0"/>
              <a:t>Exploratory Data Analysis </a:t>
            </a:r>
          </a:p>
          <a:p>
            <a:pPr marL="285750" lvl="0" indent="-285750">
              <a:buFont typeface="Arial" panose="020B0604020202020204" pitchFamily="34" charset="0"/>
              <a:buChar char="•"/>
            </a:pPr>
            <a:r>
              <a:rPr lang="en-US" dirty="0"/>
              <a:t>Descriptive Statistics </a:t>
            </a:r>
          </a:p>
          <a:p>
            <a:pPr marL="285750" lvl="0" indent="-285750">
              <a:buFont typeface="Arial" panose="020B0604020202020204" pitchFamily="34" charset="0"/>
              <a:buChar char="•"/>
            </a:pPr>
            <a:r>
              <a:rPr lang="en-US" dirty="0"/>
              <a:t>Correlation Analysis </a:t>
            </a:r>
          </a:p>
          <a:p>
            <a:pPr marL="285750" lvl="0" indent="-285750">
              <a:buFont typeface="Arial" panose="020B0604020202020204" pitchFamily="34" charset="0"/>
              <a:buChar char="•"/>
            </a:pPr>
            <a:r>
              <a:rPr lang="en-US" dirty="0"/>
              <a:t>Seasonal Comparison </a:t>
            </a:r>
          </a:p>
          <a:p>
            <a:pPr marL="285750" lvl="0" indent="-285750">
              <a:buFont typeface="Arial" panose="020B0604020202020204" pitchFamily="34" charset="0"/>
              <a:buChar char="•"/>
            </a:pPr>
            <a:r>
              <a:rPr lang="en-US" dirty="0"/>
              <a:t>ANOVA / Kruskal-Wallis Test </a:t>
            </a:r>
          </a:p>
          <a:p>
            <a:pPr marL="285750" lvl="0" indent="-285750">
              <a:buFont typeface="Arial" panose="020B0604020202020204" pitchFamily="34" charset="0"/>
              <a:buChar char="•"/>
            </a:pPr>
            <a:r>
              <a:rPr lang="en-US" dirty="0"/>
              <a:t>Random Forest Regression</a:t>
            </a:r>
          </a:p>
          <a:p>
            <a:pPr lvl="0"/>
            <a:r>
              <a:rPr lang="en-US" dirty="0"/>
              <a:t> </a:t>
            </a:r>
          </a:p>
          <a:p>
            <a:r>
              <a:rPr lang="en-US" b="1" dirty="0"/>
              <a:t>Dataset</a:t>
            </a:r>
            <a:endParaRPr lang="en-US" dirty="0"/>
          </a:p>
          <a:p>
            <a:pPr marL="285750" lvl="0" indent="-285750">
              <a:buFont typeface="Arial" panose="020B0604020202020204" pitchFamily="34" charset="0"/>
              <a:buChar char="•"/>
            </a:pPr>
            <a:r>
              <a:rPr lang="en-US" dirty="0"/>
              <a:t>CSV format </a:t>
            </a:r>
          </a:p>
          <a:p>
            <a:pPr marL="285750" lvl="0" indent="-285750">
              <a:buFont typeface="Arial" panose="020B0604020202020204" pitchFamily="34" charset="0"/>
              <a:buChar char="•"/>
            </a:pPr>
            <a:r>
              <a:rPr lang="en-US" dirty="0"/>
              <a:t>4,000 agricultural records </a:t>
            </a:r>
          </a:p>
          <a:p>
            <a:pPr marL="285750" lvl="0" indent="-285750">
              <a:buFont typeface="Arial" panose="020B0604020202020204" pitchFamily="34" charset="0"/>
              <a:buChar char="•"/>
            </a:pPr>
            <a:r>
              <a:rPr lang="en-US" dirty="0"/>
              <a:t>28 variables</a:t>
            </a:r>
          </a:p>
          <a:p>
            <a:endParaRPr lang="en-US" dirty="0"/>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29DCBA3-6A01-B293-BECF-09A5B6A259A5}"/>
              </a:ext>
            </a:extLst>
          </p:cNvPr>
          <p:cNvPicPr>
            <a:picLocks noChangeAspect="1"/>
          </p:cNvPicPr>
          <p:nvPr/>
        </p:nvPicPr>
        <p:blipFill>
          <a:blip r:embed="rId3"/>
          <a:stretch>
            <a:fillRect/>
          </a:stretch>
        </p:blipFill>
        <p:spPr>
          <a:xfrm>
            <a:off x="1228038" y="1374856"/>
            <a:ext cx="4393084" cy="2705122"/>
          </a:xfrm>
          <a:prstGeom prst="rect">
            <a:avLst/>
          </a:prstGeom>
        </p:spPr>
      </p:pic>
      <p:pic>
        <p:nvPicPr>
          <p:cNvPr id="9" name="Picture 8">
            <a:extLst>
              <a:ext uri="{FF2B5EF4-FFF2-40B4-BE49-F238E27FC236}">
                <a16:creationId xmlns:a16="http://schemas.microsoft.com/office/drawing/2014/main" id="{77AD0508-B083-C159-ECC9-939562835CB0}"/>
              </a:ext>
            </a:extLst>
          </p:cNvPr>
          <p:cNvPicPr>
            <a:picLocks noChangeAspect="1"/>
          </p:cNvPicPr>
          <p:nvPr/>
        </p:nvPicPr>
        <p:blipFill>
          <a:blip r:embed="rId4"/>
          <a:stretch>
            <a:fillRect/>
          </a:stretch>
        </p:blipFill>
        <p:spPr>
          <a:xfrm>
            <a:off x="5902550" y="1275371"/>
            <a:ext cx="4613881" cy="2804607"/>
          </a:xfrm>
          <a:prstGeom prst="rect">
            <a:avLst/>
          </a:prstGeom>
        </p:spPr>
      </p:pic>
      <p:pic>
        <p:nvPicPr>
          <p:cNvPr id="11" name="Picture 10">
            <a:extLst>
              <a:ext uri="{FF2B5EF4-FFF2-40B4-BE49-F238E27FC236}">
                <a16:creationId xmlns:a16="http://schemas.microsoft.com/office/drawing/2014/main" id="{00F8275E-85B3-928F-DD51-BEED9D8F0079}"/>
              </a:ext>
            </a:extLst>
          </p:cNvPr>
          <p:cNvPicPr>
            <a:picLocks noChangeAspect="1"/>
          </p:cNvPicPr>
          <p:nvPr/>
        </p:nvPicPr>
        <p:blipFill>
          <a:blip r:embed="rId5"/>
          <a:stretch>
            <a:fillRect/>
          </a:stretch>
        </p:blipFill>
        <p:spPr>
          <a:xfrm>
            <a:off x="1842283" y="4412439"/>
            <a:ext cx="7740256" cy="214140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38FADD06-8194-D458-4B27-9F4863FEBD8F}"/>
              </a:ext>
            </a:extLst>
          </p:cNvPr>
          <p:cNvPicPr>
            <a:picLocks noChangeAspect="1"/>
          </p:cNvPicPr>
          <p:nvPr/>
        </p:nvPicPr>
        <p:blipFill>
          <a:blip r:embed="rId3"/>
          <a:stretch>
            <a:fillRect/>
          </a:stretch>
        </p:blipFill>
        <p:spPr>
          <a:xfrm>
            <a:off x="864675" y="1461368"/>
            <a:ext cx="3343560" cy="2361964"/>
          </a:xfrm>
          <a:prstGeom prst="rect">
            <a:avLst/>
          </a:prstGeom>
        </p:spPr>
      </p:pic>
      <p:pic>
        <p:nvPicPr>
          <p:cNvPr id="12" name="Picture 11">
            <a:extLst>
              <a:ext uri="{FF2B5EF4-FFF2-40B4-BE49-F238E27FC236}">
                <a16:creationId xmlns:a16="http://schemas.microsoft.com/office/drawing/2014/main" id="{B50ADF3D-9D99-13A7-C5DB-25B9498B17E3}"/>
              </a:ext>
            </a:extLst>
          </p:cNvPr>
          <p:cNvPicPr>
            <a:picLocks noChangeAspect="1"/>
          </p:cNvPicPr>
          <p:nvPr/>
        </p:nvPicPr>
        <p:blipFill>
          <a:blip r:embed="rId4"/>
          <a:stretch>
            <a:fillRect/>
          </a:stretch>
        </p:blipFill>
        <p:spPr>
          <a:xfrm>
            <a:off x="6096000" y="1201586"/>
            <a:ext cx="3654131" cy="2379072"/>
          </a:xfrm>
          <a:prstGeom prst="rect">
            <a:avLst/>
          </a:prstGeom>
        </p:spPr>
      </p:pic>
      <p:pic>
        <p:nvPicPr>
          <p:cNvPr id="14" name="Picture 13">
            <a:extLst>
              <a:ext uri="{FF2B5EF4-FFF2-40B4-BE49-F238E27FC236}">
                <a16:creationId xmlns:a16="http://schemas.microsoft.com/office/drawing/2014/main" id="{01FF13EB-546A-3FD4-0D8B-1C36009D060A}"/>
              </a:ext>
            </a:extLst>
          </p:cNvPr>
          <p:cNvPicPr>
            <a:picLocks noChangeAspect="1"/>
          </p:cNvPicPr>
          <p:nvPr/>
        </p:nvPicPr>
        <p:blipFill>
          <a:blip r:embed="rId5"/>
          <a:stretch>
            <a:fillRect/>
          </a:stretch>
        </p:blipFill>
        <p:spPr>
          <a:xfrm>
            <a:off x="473694" y="4086276"/>
            <a:ext cx="3872000" cy="2527406"/>
          </a:xfrm>
          <a:prstGeom prst="rect">
            <a:avLst/>
          </a:prstGeom>
        </p:spPr>
      </p:pic>
      <p:pic>
        <p:nvPicPr>
          <p:cNvPr id="16" name="Picture 15">
            <a:extLst>
              <a:ext uri="{FF2B5EF4-FFF2-40B4-BE49-F238E27FC236}">
                <a16:creationId xmlns:a16="http://schemas.microsoft.com/office/drawing/2014/main" id="{33FCC671-0838-1447-D119-9E89842EA8EC}"/>
              </a:ext>
            </a:extLst>
          </p:cNvPr>
          <p:cNvPicPr>
            <a:picLocks noChangeAspect="1"/>
          </p:cNvPicPr>
          <p:nvPr/>
        </p:nvPicPr>
        <p:blipFill>
          <a:blip r:embed="rId6"/>
          <a:stretch>
            <a:fillRect/>
          </a:stretch>
        </p:blipFill>
        <p:spPr>
          <a:xfrm>
            <a:off x="4889387" y="3822582"/>
            <a:ext cx="5936487" cy="279857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3A952EC2-F73B-333D-A923-092CC9886DCB}"/>
              </a:ext>
            </a:extLst>
          </p:cNvPr>
          <p:cNvPicPr>
            <a:picLocks noChangeAspect="1"/>
          </p:cNvPicPr>
          <p:nvPr/>
        </p:nvPicPr>
        <p:blipFill>
          <a:blip r:embed="rId3"/>
          <a:stretch>
            <a:fillRect/>
          </a:stretch>
        </p:blipFill>
        <p:spPr>
          <a:xfrm>
            <a:off x="3959921" y="172327"/>
            <a:ext cx="6013174" cy="3136924"/>
          </a:xfrm>
          <a:prstGeom prst="rect">
            <a:avLst/>
          </a:prstGeom>
        </p:spPr>
      </p:pic>
      <p:pic>
        <p:nvPicPr>
          <p:cNvPr id="12" name="Picture 11">
            <a:extLst>
              <a:ext uri="{FF2B5EF4-FFF2-40B4-BE49-F238E27FC236}">
                <a16:creationId xmlns:a16="http://schemas.microsoft.com/office/drawing/2014/main" id="{6D9F91C6-C0D7-8090-8538-D16C52AD7766}"/>
              </a:ext>
            </a:extLst>
          </p:cNvPr>
          <p:cNvPicPr>
            <a:picLocks noChangeAspect="1"/>
          </p:cNvPicPr>
          <p:nvPr/>
        </p:nvPicPr>
        <p:blipFill>
          <a:blip r:embed="rId4"/>
          <a:stretch>
            <a:fillRect/>
          </a:stretch>
        </p:blipFill>
        <p:spPr>
          <a:xfrm>
            <a:off x="766179" y="3528037"/>
            <a:ext cx="8721724" cy="296124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DCBFF045-F6D2-A692-EDF0-5282750AD69C}"/>
              </a:ext>
            </a:extLst>
          </p:cNvPr>
          <p:cNvPicPr>
            <a:picLocks noChangeAspect="1"/>
          </p:cNvPicPr>
          <p:nvPr/>
        </p:nvPicPr>
        <p:blipFill>
          <a:blip r:embed="rId3"/>
          <a:stretch>
            <a:fillRect/>
          </a:stretch>
        </p:blipFill>
        <p:spPr>
          <a:xfrm>
            <a:off x="475324" y="1201586"/>
            <a:ext cx="3753175" cy="2629128"/>
          </a:xfrm>
          <a:prstGeom prst="rect">
            <a:avLst/>
          </a:prstGeom>
        </p:spPr>
      </p:pic>
      <p:pic>
        <p:nvPicPr>
          <p:cNvPr id="12" name="Picture 11">
            <a:extLst>
              <a:ext uri="{FF2B5EF4-FFF2-40B4-BE49-F238E27FC236}">
                <a16:creationId xmlns:a16="http://schemas.microsoft.com/office/drawing/2014/main" id="{136A3761-85CD-7414-B073-BDCCBC3EC61A}"/>
              </a:ext>
            </a:extLst>
          </p:cNvPr>
          <p:cNvPicPr>
            <a:picLocks noChangeAspect="1"/>
          </p:cNvPicPr>
          <p:nvPr/>
        </p:nvPicPr>
        <p:blipFill>
          <a:blip r:embed="rId4"/>
          <a:stretch>
            <a:fillRect/>
          </a:stretch>
        </p:blipFill>
        <p:spPr>
          <a:xfrm>
            <a:off x="5322037" y="1201586"/>
            <a:ext cx="4269832" cy="2447871"/>
          </a:xfrm>
          <a:prstGeom prst="rect">
            <a:avLst/>
          </a:prstGeom>
        </p:spPr>
      </p:pic>
      <p:pic>
        <p:nvPicPr>
          <p:cNvPr id="14" name="Picture 13">
            <a:extLst>
              <a:ext uri="{FF2B5EF4-FFF2-40B4-BE49-F238E27FC236}">
                <a16:creationId xmlns:a16="http://schemas.microsoft.com/office/drawing/2014/main" id="{2D86DD8A-4BAB-9E76-90B3-C571923D2ED2}"/>
              </a:ext>
            </a:extLst>
          </p:cNvPr>
          <p:cNvPicPr>
            <a:picLocks noChangeAspect="1"/>
          </p:cNvPicPr>
          <p:nvPr/>
        </p:nvPicPr>
        <p:blipFill>
          <a:blip r:embed="rId5"/>
          <a:stretch>
            <a:fillRect/>
          </a:stretch>
        </p:blipFill>
        <p:spPr>
          <a:xfrm>
            <a:off x="475324" y="4042560"/>
            <a:ext cx="4064535" cy="2622400"/>
          </a:xfrm>
          <a:prstGeom prst="rect">
            <a:avLst/>
          </a:prstGeom>
        </p:spPr>
      </p:pic>
      <p:pic>
        <p:nvPicPr>
          <p:cNvPr id="16" name="Picture 15">
            <a:extLst>
              <a:ext uri="{FF2B5EF4-FFF2-40B4-BE49-F238E27FC236}">
                <a16:creationId xmlns:a16="http://schemas.microsoft.com/office/drawing/2014/main" id="{4539B1A4-6891-47AE-0ED6-9F1BDADF617C}"/>
              </a:ext>
            </a:extLst>
          </p:cNvPr>
          <p:cNvPicPr>
            <a:picLocks noChangeAspect="1"/>
          </p:cNvPicPr>
          <p:nvPr/>
        </p:nvPicPr>
        <p:blipFill>
          <a:blip r:embed="rId6"/>
          <a:stretch>
            <a:fillRect/>
          </a:stretch>
        </p:blipFill>
        <p:spPr>
          <a:xfrm>
            <a:off x="5322037" y="3990228"/>
            <a:ext cx="4348925" cy="2727063"/>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A62D0D7-8AD5-DE0B-ECE2-FED0A9B52BDA}"/>
              </a:ext>
            </a:extLst>
          </p:cNvPr>
          <p:cNvPicPr>
            <a:picLocks noChangeAspect="1"/>
          </p:cNvPicPr>
          <p:nvPr/>
        </p:nvPicPr>
        <p:blipFill>
          <a:blip r:embed="rId3"/>
          <a:stretch>
            <a:fillRect/>
          </a:stretch>
        </p:blipFill>
        <p:spPr>
          <a:xfrm>
            <a:off x="3172408" y="547876"/>
            <a:ext cx="7277876" cy="3014236"/>
          </a:xfrm>
          <a:prstGeom prst="rect">
            <a:avLst/>
          </a:prstGeom>
        </p:spPr>
      </p:pic>
      <p:pic>
        <p:nvPicPr>
          <p:cNvPr id="12" name="Picture 11">
            <a:extLst>
              <a:ext uri="{FF2B5EF4-FFF2-40B4-BE49-F238E27FC236}">
                <a16:creationId xmlns:a16="http://schemas.microsoft.com/office/drawing/2014/main" id="{1FFC8D7D-9D43-E04B-A9F1-78FADC564BBC}"/>
              </a:ext>
            </a:extLst>
          </p:cNvPr>
          <p:cNvPicPr>
            <a:picLocks noChangeAspect="1"/>
          </p:cNvPicPr>
          <p:nvPr/>
        </p:nvPicPr>
        <p:blipFill>
          <a:blip r:embed="rId4"/>
          <a:stretch>
            <a:fillRect/>
          </a:stretch>
        </p:blipFill>
        <p:spPr>
          <a:xfrm>
            <a:off x="3163077" y="3391451"/>
            <a:ext cx="7315200" cy="305020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37D9D-4EDD-821E-E63A-4D28488A66A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8C084D5-0F96-ABE1-33A5-95A9AEFC7C4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F7AAC7D-58B3-50A8-7D46-BE08EBC0C62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7AB644-7DCF-008A-A6F3-DEDCF761D06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48D7A1B-9AA2-511E-A450-8A0C280A7B5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2A30604-39E9-D6E8-ADEF-183A0903401B}"/>
              </a:ext>
            </a:extLst>
          </p:cNvPr>
          <p:cNvPicPr>
            <a:picLocks noChangeAspect="1"/>
          </p:cNvPicPr>
          <p:nvPr/>
        </p:nvPicPr>
        <p:blipFill>
          <a:blip r:embed="rId3"/>
          <a:stretch>
            <a:fillRect/>
          </a:stretch>
        </p:blipFill>
        <p:spPr>
          <a:xfrm>
            <a:off x="946846" y="1201586"/>
            <a:ext cx="8010541" cy="2624828"/>
          </a:xfrm>
          <a:prstGeom prst="rect">
            <a:avLst/>
          </a:prstGeom>
        </p:spPr>
      </p:pic>
      <p:pic>
        <p:nvPicPr>
          <p:cNvPr id="9" name="Picture 8">
            <a:extLst>
              <a:ext uri="{FF2B5EF4-FFF2-40B4-BE49-F238E27FC236}">
                <a16:creationId xmlns:a16="http://schemas.microsoft.com/office/drawing/2014/main" id="{92CEEBF0-CA56-764A-20CB-AF98E446E5EC}"/>
              </a:ext>
            </a:extLst>
          </p:cNvPr>
          <p:cNvPicPr>
            <a:picLocks noChangeAspect="1"/>
          </p:cNvPicPr>
          <p:nvPr/>
        </p:nvPicPr>
        <p:blipFill>
          <a:blip r:embed="rId4"/>
          <a:stretch>
            <a:fillRect/>
          </a:stretch>
        </p:blipFill>
        <p:spPr>
          <a:xfrm>
            <a:off x="582238" y="4043884"/>
            <a:ext cx="8477785" cy="2524556"/>
          </a:xfrm>
          <a:prstGeom prst="rect">
            <a:avLst/>
          </a:prstGeom>
        </p:spPr>
      </p:pic>
    </p:spTree>
    <p:extLst>
      <p:ext uri="{BB962C8B-B14F-4D97-AF65-F5344CB8AC3E}">
        <p14:creationId xmlns:p14="http://schemas.microsoft.com/office/powerpoint/2010/main" val="72433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AAF31C9C-0B7B-75CA-FFF6-3FE5DA2706F0}"/>
              </a:ext>
            </a:extLst>
          </p:cNvPr>
          <p:cNvSpPr txBox="1"/>
          <p:nvPr/>
        </p:nvSpPr>
        <p:spPr>
          <a:xfrm>
            <a:off x="522516" y="885407"/>
            <a:ext cx="8514126" cy="5632311"/>
          </a:xfrm>
          <a:prstGeom prst="rect">
            <a:avLst/>
          </a:prstGeom>
          <a:noFill/>
        </p:spPr>
        <p:txBody>
          <a:bodyPr wrap="none" rtlCol="0">
            <a:spAutoFit/>
          </a:bodyPr>
          <a:lstStyle/>
          <a:p>
            <a:endParaRPr lang="en-US" b="1" dirty="0"/>
          </a:p>
          <a:p>
            <a:r>
              <a:rPr lang="en-US" dirty="0"/>
              <a:t> The project can be extended in the following ways:</a:t>
            </a:r>
          </a:p>
          <a:p>
            <a:endParaRPr lang="en-US" dirty="0"/>
          </a:p>
          <a:p>
            <a:pPr marL="285750" lvl="0" indent="-285750">
              <a:buFont typeface="Arial" panose="020B0604020202020204" pitchFamily="34" charset="0"/>
              <a:buChar char="•"/>
            </a:pPr>
            <a:r>
              <a:rPr lang="en-US" b="1" dirty="0"/>
              <a:t>Predictive Yield Modeling</a:t>
            </a:r>
            <a:r>
              <a:rPr lang="en-US" dirty="0"/>
              <a:t> </a:t>
            </a:r>
          </a:p>
          <a:p>
            <a:pPr lvl="1"/>
            <a:r>
              <a:rPr lang="en-US" dirty="0"/>
              <a:t>Predict crop yield using environmental and farming variables. </a:t>
            </a:r>
          </a:p>
          <a:p>
            <a:pPr marL="285750" lvl="0" indent="-285750">
              <a:buFont typeface="Arial" panose="020B0604020202020204" pitchFamily="34" charset="0"/>
              <a:buChar char="•"/>
            </a:pPr>
            <a:r>
              <a:rPr lang="en-US" b="1" dirty="0"/>
              <a:t>Crop Recommendation System</a:t>
            </a:r>
            <a:r>
              <a:rPr lang="en-US" dirty="0"/>
              <a:t> </a:t>
            </a:r>
          </a:p>
          <a:p>
            <a:pPr lvl="1"/>
            <a:r>
              <a:rPr lang="en-US" dirty="0"/>
              <a:t>Recommend suitable crops based on season, soil and climate conditions. </a:t>
            </a:r>
          </a:p>
          <a:p>
            <a:pPr marL="285750" lvl="0" indent="-285750">
              <a:buFont typeface="Arial" panose="020B0604020202020204" pitchFamily="34" charset="0"/>
              <a:buChar char="•"/>
            </a:pPr>
            <a:r>
              <a:rPr lang="en-US" b="1" dirty="0"/>
              <a:t>Profit Prediction</a:t>
            </a:r>
            <a:r>
              <a:rPr lang="en-US" dirty="0"/>
              <a:t> </a:t>
            </a:r>
          </a:p>
          <a:p>
            <a:pPr lvl="1"/>
            <a:r>
              <a:rPr lang="en-US" dirty="0"/>
              <a:t>Predict expected revenue, cost and profit before cultivation. </a:t>
            </a:r>
          </a:p>
          <a:p>
            <a:pPr marL="285750" lvl="0" indent="-285750">
              <a:buFont typeface="Arial" panose="020B0604020202020204" pitchFamily="34" charset="0"/>
              <a:buChar char="•"/>
            </a:pPr>
            <a:r>
              <a:rPr lang="en-US" b="1" dirty="0"/>
              <a:t>Weather Integration</a:t>
            </a:r>
            <a:r>
              <a:rPr lang="en-US" dirty="0"/>
              <a:t> </a:t>
            </a:r>
          </a:p>
          <a:p>
            <a:pPr lvl="1"/>
            <a:r>
              <a:rPr lang="en-US" dirty="0"/>
              <a:t>Integrate real-time and historical weather information. </a:t>
            </a:r>
          </a:p>
          <a:p>
            <a:pPr marL="285750" lvl="0" indent="-285750">
              <a:buFont typeface="Arial" panose="020B0604020202020204" pitchFamily="34" charset="0"/>
              <a:buChar char="•"/>
            </a:pPr>
            <a:r>
              <a:rPr lang="en-US" b="1" dirty="0"/>
              <a:t>Smart Irrigation</a:t>
            </a:r>
            <a:r>
              <a:rPr lang="en-US" dirty="0"/>
              <a:t> </a:t>
            </a:r>
          </a:p>
          <a:p>
            <a:pPr lvl="1"/>
            <a:r>
              <a:rPr lang="en-US" dirty="0"/>
              <a:t>Develop models to optimize irrigation and reduce water consumption. </a:t>
            </a:r>
          </a:p>
          <a:p>
            <a:pPr marL="285750" lvl="0" indent="-285750">
              <a:buFont typeface="Arial" panose="020B0604020202020204" pitchFamily="34" charset="0"/>
              <a:buChar char="•"/>
            </a:pPr>
            <a:r>
              <a:rPr lang="en-US" b="1" dirty="0"/>
              <a:t>Disease Prediction</a:t>
            </a:r>
            <a:r>
              <a:rPr lang="en-US" dirty="0"/>
              <a:t> </a:t>
            </a:r>
          </a:p>
          <a:p>
            <a:pPr lvl="1"/>
            <a:r>
              <a:rPr lang="en-US" dirty="0"/>
              <a:t>Predict disease/pest risk using environmental conditions. </a:t>
            </a:r>
          </a:p>
          <a:p>
            <a:pPr marL="285750" lvl="0" indent="-285750">
              <a:buFont typeface="Arial" panose="020B0604020202020204" pitchFamily="34" charset="0"/>
              <a:buChar char="•"/>
            </a:pPr>
            <a:r>
              <a:rPr lang="en-US" b="1" dirty="0"/>
              <a:t>Geographical Analysis</a:t>
            </a:r>
            <a:r>
              <a:rPr lang="en-US" dirty="0"/>
              <a:t> </a:t>
            </a:r>
          </a:p>
          <a:p>
            <a:pPr lvl="1"/>
            <a:r>
              <a:rPr lang="en-US" dirty="0"/>
              <a:t>Develop district/state-level agricultural performance maps. </a:t>
            </a:r>
          </a:p>
          <a:p>
            <a:pPr marL="285750" lvl="0" indent="-285750">
              <a:buFont typeface="Arial" panose="020B0604020202020204" pitchFamily="34" charset="0"/>
              <a:buChar char="•"/>
            </a:pPr>
            <a:r>
              <a:rPr lang="en-US" b="1" dirty="0"/>
              <a:t>Time-Series Analysis</a:t>
            </a:r>
            <a:r>
              <a:rPr lang="en-US" dirty="0"/>
              <a:t> </a:t>
            </a:r>
          </a:p>
          <a:p>
            <a:pPr lvl="1"/>
            <a:r>
              <a:rPr lang="en-US" dirty="0"/>
              <a:t>Analyze agricultural performance across multiple years. </a:t>
            </a:r>
          </a:p>
          <a:p>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675957" y="2252083"/>
            <a:ext cx="7232875" cy="646331"/>
          </a:xfrm>
          <a:prstGeom prst="rect">
            <a:avLst/>
          </a:prstGeom>
          <a:noFill/>
        </p:spPr>
        <p:txBody>
          <a:bodyPr wrap="square">
            <a:spAutoFit/>
          </a:bodyPr>
          <a:lstStyle/>
          <a:p>
            <a:r>
              <a:rPr lang="en-US" dirty="0"/>
              <a:t>https://github.com/Fazhanp/Seasonal-Agriculture-Perfomance-Analysis.git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1E1C7F7-BFF0-E22D-F580-E85F03F7955D}"/>
              </a:ext>
            </a:extLst>
          </p:cNvPr>
          <p:cNvPicPr>
            <a:picLocks noChangeAspect="1"/>
          </p:cNvPicPr>
          <p:nvPr/>
        </p:nvPicPr>
        <p:blipFill>
          <a:blip r:embed="rId3"/>
          <a:stretch>
            <a:fillRect/>
          </a:stretch>
        </p:blipFill>
        <p:spPr>
          <a:xfrm>
            <a:off x="1307518" y="1608410"/>
            <a:ext cx="6744802" cy="476953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137362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351867" y="3013519"/>
            <a:ext cx="4883828" cy="344312"/>
          </a:xfrm>
        </p:spPr>
        <p:txBody>
          <a:bodyPr>
            <a:noAutofit/>
          </a:bodyPr>
          <a:lstStyle/>
          <a:p>
            <a:r>
              <a:rPr lang="en-US" sz="1800" dirty="0">
                <a:solidFill>
                  <a:schemeClr val="tx1"/>
                </a:solidFill>
              </a:rPr>
              <a:t>Student Name –  </a:t>
            </a:r>
          </a:p>
          <a:p>
            <a:r>
              <a:rPr lang="en-US" sz="1800" dirty="0">
                <a:solidFill>
                  <a:schemeClr val="tx1"/>
                </a:solidFill>
              </a:rPr>
              <a:t> FAZHAN P </a:t>
            </a:r>
            <a:endParaRPr lang="en-IN" sz="1800" dirty="0">
              <a:solidFill>
                <a:schemeClr val="tx1"/>
              </a:solidFill>
            </a:endParaRPr>
          </a:p>
          <a:p>
            <a:r>
              <a:rPr lang="en-US" sz="1800" dirty="0">
                <a:solidFill>
                  <a:schemeClr val="tx1"/>
                </a:solidFill>
              </a:rPr>
              <a:t>College Name-  </a:t>
            </a:r>
          </a:p>
          <a:p>
            <a:r>
              <a:rPr lang="en-US" sz="1800" dirty="0">
                <a:solidFill>
                  <a:schemeClr val="tx1"/>
                </a:solidFill>
              </a:rPr>
              <a:t>SAINTGITS COLLEGE OF ENGINEERING </a:t>
            </a:r>
            <a:endParaRPr lang="en-IN" sz="1800" dirty="0">
              <a:solidFill>
                <a:schemeClr val="tx1"/>
              </a:solidFill>
            </a:endParaRPr>
          </a:p>
          <a:p>
            <a:endParaRPr lang="en-IN" sz="180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1604</TotalTime>
  <Words>546</Words>
  <Application>Microsoft Office PowerPoint</Application>
  <PresentationFormat>Widescreen</PresentationFormat>
  <Paragraphs>111</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PERFOMANCE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FAZHAN P</cp:lastModifiedBy>
  <cp:revision>101</cp:revision>
  <dcterms:created xsi:type="dcterms:W3CDTF">2021-07-11T13:13:15Z</dcterms:created>
  <dcterms:modified xsi:type="dcterms:W3CDTF">2026-09-15T13:52:35Z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